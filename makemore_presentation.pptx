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 Loss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3A5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3A6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4C5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4C5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F4C5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Bigram
(stat)</c:v>
                  </c:pt>
                  <c:pt idx="1">
                    <c:v>Bigram
(neural)</c:v>
                  </c:pt>
                  <c:pt idx="2">
                    <c:v>MLP
Part 2</c:v>
                  </c:pt>
                  <c:pt idx="3">
                    <c:v>MLP+BN
Part 3</c:v>
                  </c:pt>
                  <c:pt idx="4">
                    <c:v>MLP+BN
+Init</c:v>
                  </c:pt>
                  <c:pt idx="5">
                    <c:v>WaveNet
Part 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2.454</c:v>
                </c:pt>
                <c:pt idx="1">
                  <c:v>2.454</c:v>
                </c:pt>
                <c:pt idx="2">
                  <c:v>2.105</c:v>
                </c:pt>
                <c:pt idx="3">
                  <c:v>2.105</c:v>
                </c:pt>
                <c:pt idx="4">
                  <c:v>2.103</c:v>
                </c:pt>
                <c:pt idx="5">
                  <c:v>1.993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6"/>
          <c:min val="1.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2743200"/>
            <a:ext cx="4572000" cy="45720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188720"/>
            <a:ext cx="64008" cy="23774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97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Makemore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594360" y="21488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Character-Level Language Modelling with PyTorch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2743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5-Part deep-learning journey: Bigrams → MLP → BatchNorm → Manual Backprop → WaveNet CNN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3703320"/>
            <a:ext cx="18288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374904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729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94360" y="4251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params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97480" y="3703320"/>
            <a:ext cx="18288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97480" y="374904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12K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697480" y="4251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2–3 params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3703320"/>
            <a:ext cx="18288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374904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76K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00600" y="4251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params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03720" y="3703320"/>
            <a:ext cx="18288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03720" y="374904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1.99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903720" y="4251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 loss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5-Part 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56032" y="960120"/>
            <a:ext cx="1600200" cy="3886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024128"/>
            <a:ext cx="475488" cy="47548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24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15727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Bigram Model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9184" y="20116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729 params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9184" y="22860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NLL 2.45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2651760"/>
            <a:ext cx="1444752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27×27 count matrix N[i,j]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Laplace (add-1) smoothing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Row-normalise → prob matrix 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via single W (27×27)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NLL, gradient descent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84248" y="960120"/>
            <a:ext cx="1600200" cy="38862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51176" y="1024128"/>
            <a:ext cx="475488" cy="47548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51176" y="1024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057400" y="15727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MLP Model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57400" y="20116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~12K params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57400" y="22860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2.105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75688" y="2651760"/>
            <a:ext cx="1444752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3-char context window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table C (27×10)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 200 tanh units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Mini-batch SGD, LR 0.1→0.01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80/10/10 train/val/test split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12464" y="960120"/>
            <a:ext cx="1600200" cy="388620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79392" y="1024128"/>
            <a:ext cx="475488" cy="47548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79392" y="1024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785616" y="15727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BatchNorm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85616" y="20116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~12K params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85616" y="22860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2.103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03904" y="2651760"/>
            <a:ext cx="1444752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output init: W2×0.01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Kaiming init (5/3)/√fan_in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 normalises pre-activations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Linear/BN/Tanh classes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&amp; gradient plots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40680" y="960120"/>
            <a:ext cx="1600200" cy="388620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07608" y="1024128"/>
            <a:ext cx="475488" cy="47548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07608" y="1024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513832" y="15727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Backprop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13832" y="20116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~12K params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13832" y="22860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2.10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32120" y="2651760"/>
            <a:ext cx="1444752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forward atomically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rule every operation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cross-entropy gradient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BN backward (closed form)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training in no_grad()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168896" y="960120"/>
            <a:ext cx="1600200" cy="3886200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735824" y="1024128"/>
            <a:ext cx="475488" cy="47548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35824" y="1024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242048" y="15727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WaveNet CNN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242048" y="20116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~76K params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242048" y="22860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1.993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260336" y="2651760"/>
            <a:ext cx="1444752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8-char context window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FlattenConsecutive(2) layers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8→4→2→1 tree structure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Embedding/Sequential classes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 extended to 3-D tensors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18872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Bigram Language Model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216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equivalent ways to learn P(next character | current character)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719072"/>
            <a:ext cx="4023360" cy="3154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81051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Statistical Approach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374904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27×27 count matrix  N[i,j]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Add-1 Laplace smoothing → no zero probs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Row-normalise → prob matrix 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 sampling via torch.multinomial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avg negative log-likelihood (NLL)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1719072"/>
            <a:ext cx="4023360" cy="315468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81051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Neural Network Approach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2286000"/>
            <a:ext cx="374904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weight matrix W (27×27), requires_grad=True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 input → logits = xenc @ W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= logits.exp()  →  probs = softmax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= NLL + 0.01 * (W**2).mean()  (L2 reg)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converges to same distribution as count matrix ✓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4892040"/>
            <a:ext cx="850392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Bigram count model ≡ single-layer neural net — both minimise the same NLL. Neural formulation generalises to any architecture.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18872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MLP Language Model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Bengio et al. (2003) · 3-char context window · ~12K parameters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1572768" cy="1325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93192" y="1737360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chars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" y="2377440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block_size=3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01952" y="2103120"/>
            <a:ext cx="16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039112" y="1691640"/>
            <a:ext cx="1572768" cy="13258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12264" y="1737360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 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12264" y="2377440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(27, 10)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30-dim vec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21024" y="2103120"/>
            <a:ext cx="16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758184" y="1691640"/>
            <a:ext cx="1572768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31336" y="1737360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Hidden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W1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31336" y="2377440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(30→200)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 units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40096" y="2103120"/>
            <a:ext cx="16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477256" y="1691640"/>
            <a:ext cx="1572768" cy="132588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50408" y="1737360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W2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50408" y="2377440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(200→27)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59168" y="2103120"/>
            <a:ext cx="16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196328" y="1691640"/>
            <a:ext cx="1572768" cy="132588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69480" y="1737360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Softmax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Sample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269480" y="2377440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char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20040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" y="32735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Setup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" y="3639312"/>
            <a:ext cx="3931920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Mini-batch SGD — batch size 32, 200,000 steps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schedule: 0.1 (first 100k steps) → 0.01 (fine-tune)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F.cross_entropy — numerically stable log-softmax + NLL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10 / 10  train / val / test split on name dataset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09160" y="320040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46320" y="327355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846320" y="3639312"/>
            <a:ext cx="3886200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loss: 2.058  ·  Val loss: 2.105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~12K params vs 729 for bigram — big quality jump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embeddings cluster vowels + consonants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finder sweep: log-scale 1e-3 to 1.0 before training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766560" y="1691640"/>
            <a:ext cx="2011680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766560" y="18288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2.105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6766560" y="242316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loss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2.454 bigram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18872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Activations, Gradients &amp; BatchNorm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Diagnosing and fixing two silent training failures in the Part 2 MLP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2743200" cy="3246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691640"/>
            <a:ext cx="64008" cy="3246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7830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1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Layer Overconfidence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" y="2542032"/>
            <a:ext cx="2514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torch.randn scaling produces large logits at step 0. Softmax of large logits is nearly one-hot → network very confident but wrong → initial loss ~27 instead of theoretical ~3.3.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scale W2 by 0.01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691640"/>
            <a:ext cx="2743200" cy="3246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691640"/>
            <a:ext cx="64008" cy="32461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0712" y="17830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2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Tanh Saturation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10712" y="2542032"/>
            <a:ext cx="2514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pre-activations push tanh to ±1 from the very start — gradient ≈ 0 there, dead neurons before training begins.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Kaiming init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(5/3) / √fan_in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weights correctly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691640"/>
            <a:ext cx="2743200" cy="3246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691640"/>
            <a:ext cx="64008" cy="32461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6792" y="17830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Batch Normalisation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36792" y="2542032"/>
            <a:ext cx="2514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per-mini-batch pre-activations to zero mean / unit variance, then apply learned γ (gain) and β (shift).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Stabilises training regardless of init quality. Running stats for inference vs batch stats for training.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5029200"/>
            <a:ext cx="850392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5029200"/>
            <a:ext cx="8321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Refactored into modular classes: Linear · BatchNorm1d · Tanh — mirroring PyTorch nn.Module API. 5-layer deep network with update-to-data ratio monitoring.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18872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CODE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Network with BatchNorm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8412480" cy="301752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72768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57276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" y="1572768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755648"/>
            <a:ext cx="8193024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Kaiming init: W1 * (5/3)/sqrt(fan_in),  W2 * 0.01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W1 = torch.randn((n_embd * block_size, n_hidden)) * (5/3) / ((n_embd * block_size)**0.5)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W2 = torch.randn((n_hidden, vocab_size)) * 0.01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5-layer deep network: Linear → BatchNorm1d → Tanh blocks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layers = 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Linear(n_embd * block_size, n_hidden, bias=False), BatchNorm1d(n_hidden), Tanh(),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Linear(n_hidden, n_hidden, bias=False),            BatchNorm1d(n_hidden), Tanh(),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Linear(n_hidden, n_hidden, bias=False),            BatchNorm1d(n_hidden), Tanh(),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Linear(n_hidden, n_hidden, bias=False),            BatchNorm1d(n_hidden), Tanh(),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Linear(n_hidden, vocab_size, bias=False),          BatchNorm1d(vocab_size),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4617720"/>
            <a:ext cx="274320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9768" y="463600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loss ~3.3: W2×0.01 keeps logits small → uniform-ish softmax → −log(1/27) ≈ 3.3 at step 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4617720"/>
            <a:ext cx="274320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55848" y="463600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Update/data ratio: log₁₀(lr·grad_std / param_std) ≈ −3 is healthy: update ≈ 0.1% of param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4617720"/>
            <a:ext cx="2743200" cy="47548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81928" y="463600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 training vs eval: Training: batch mean/std · Inference: running mean/std buffers (critical distinction)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18872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Backpropagation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gradient derived by hand · verified against PyTorch autograd · full training in torch.no_grad()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7472" y="1773936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171907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Decompose Forward Pass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47872" y="1719072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into atomic ops: embed lookup, matmul, BN mean/var/norm/scale, tanh, logits, softmax, log, index, mean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" y="2249424"/>
            <a:ext cx="841248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2414016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414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96112" y="235915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Chain Rule Backward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47872" y="2359152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log(x)→1/x · exp(x)→exp(x) · sum/broadcast→accumulate · matmul: dX=dO@Wᵀ, dW=Xᵀ@dO · tanh: 1−tanh²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7472" y="2889504"/>
            <a:ext cx="841248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3054096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96112" y="299923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Fused Cross-Entropy Gradient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47872" y="2999232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d_logits[i,j] = softmax[i,j] − 𝟙[j==yᵢ], divided by B. One line replaces 6 atomic backward steps.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" y="3529584"/>
            <a:ext cx="841248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3694176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96112" y="363931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Fused BatchNorm Gradient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47872" y="3639312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d_x = γ·σ⁻¹/B · (B·dŷ − Σdŷ − B/(B−1)·x̂·Σ(dŷ·x̂))  — closed-form, verified numerically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" y="4169664"/>
            <a:ext cx="841248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4334256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96112" y="427939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Training loop (no_grad)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547872" y="4279392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 steps, manual SGD, step-decay LR. Final loss matches autograd run — confirms gradients are correct.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" y="4956048"/>
            <a:ext cx="8503920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956048"/>
            <a:ext cx="8321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manual backprop makes the chain rule concrete — especially how broadcast / sum require careful gradient accumulation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18872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CODE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Fused Gradients (Exercises 2 &amp; 3)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251960" cy="324612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27048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152704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" y="1527048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709928"/>
            <a:ext cx="4032504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Exercise 2 — Fused cross-entropy backward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d_logits[i,j] = softmax[i,j] - one_hot[i,j], / 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d_logits = F.softmax(logits, dim=1)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d_logits[range(B), Yb] -=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d_logits /= B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Sanity check: rows must sum to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d_logits.sum(1).abs().max() &lt; 1e-6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PyTorch agrees: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loss_ref = F.cross_entropy(logits, Yb)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difference &lt; 1e-7  ✓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4251960" cy="324612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527048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56048" y="152704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11496" y="1527048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709928"/>
            <a:ext cx="4032504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Exercise 3 — Fused BatchNorm backward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Given: d_y (upstream grad), x_norm, γ, 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d_x = (gamma * std_inv / B) *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 * d_y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d_y.sum(0)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B/(B-1) * x_norm * (d_y * x_norm).sum(0)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Exercise 4 — full loop inside no_grad()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torch.no_grad():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step in range(200000):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manual forward + manual backward + SGD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4754880"/>
            <a:ext cx="850392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773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comparison utility: reports exact match, approx match (float tolerance), and max absolute difference vs .grad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18872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Hierarchical WaveNet Architecture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3→8 chars · FlattenConsecutive(2) merges pairs at each stage · 8→4→2→1 tree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719072"/>
            <a:ext cx="594360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7465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Embedding(8, 24)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174650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8, 24)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63240" y="221284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↓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304288"/>
            <a:ext cx="5943600" cy="512064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3317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FlattenConsecutive(2)  →  Linear  →  BN  →  Tanh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23317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4, 128)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63240" y="279806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↓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2889504"/>
            <a:ext cx="5943600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291693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FlattenConsecutive(2)  →  Linear  →  BN  →  Tanh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291693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2, 128)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63240" y="3383280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3474720"/>
            <a:ext cx="5943600" cy="512064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350215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FlattenConsecutive(2)  →  Linear  →  BN  →  Tanh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350215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128)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63240" y="3968496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↓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4059936"/>
            <a:ext cx="5943600" cy="512064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40873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Linear(128, 27)  →  cross-entropy loss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408736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logits (B,27)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46520" y="1719072"/>
            <a:ext cx="237744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46520" y="17647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76K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6446520" y="23134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 12K Part 2)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46520" y="2852928"/>
            <a:ext cx="2377440" cy="100584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46520" y="289864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1.993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6446520" y="34472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loss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 2.105 Part 2)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46520" y="3986784"/>
            <a:ext cx="237744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46520" y="403250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→1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6446520" y="45811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collapse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3 stages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" y="4846320"/>
            <a:ext cx="850392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classes: Embedding · FlattenConsecutive · Sequential   Updated: BatchNorm1d handles 3-D (B,T,C) by normalising over dim=(0,1)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18872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CODE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the Hierarchical Model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8503920" cy="352044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9961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149961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" y="1499616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682496"/>
            <a:ext cx="828446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torch.manual_seed(42)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n_embd   = 24     # character embedding dimension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n_hidden = 128    # neurons per hidden layer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Sequential([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Embedding(vocab_size, n_embd),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Stage 1: 8 chars → 4 positions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FlattenConsecutive(2), Linear(n_embd*2,    n_hidden, bias=False), BatchNorm1d(n_hidden), Tanh(),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Stage 2: 4 positions → 2 positions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FlattenConsecutive(2), Linear(n_hidden*2,  n_hidden, bias=False), BatchNorm1d(n_hidden), Tanh(),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Stage 3: 2 positions → 1 (squeezed)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FlattenConsecutive(2), Linear(n_hidden*2,  n_hidden, bias=False), BatchNorm1d(n_hidden), Tanh(),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Output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Linear(n_hidden, vocab_size, bias=False), BatchNorm1d(vocab_size),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Scale output BN gamma down to 0.1 → initial loss ≈ 3.3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model.layers[-1].gamma.data *= 0.1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4983480"/>
            <a:ext cx="8321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log: Part 2 baseline val 2.105 → 8-char flat val 2.027 → hierarchical val 2.029 → fix BN bug 2.022 → scale up (76K) val 1.993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Loss Progression Across All Parts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14400"/>
          <a:ext cx="53035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914400"/>
          <a:ext cx="2880360" cy="2011680"/>
        </p:xfrm>
        <a:graphic>
          <a:graphicData uri="http://schemas.openxmlformats.org/drawingml/2006/table">
            <a:tbl>
              <a:tblPr/>
              <a:tblGrid>
                <a:gridCol w="365760"/>
                <a:gridCol w="1371600"/>
                <a:gridCol w="548640"/>
                <a:gridCol w="5943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Loss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Bigram (stat/neural)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3-char context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+ BN + better init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WaveNet 8-char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~76K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1.993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897880" y="3063240"/>
            <a:ext cx="2880360" cy="1783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6035040" y="314553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Theoretical floor: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6035040" y="3493008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−log(1/27) ≈ 3.296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beat chance.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best at 1.993.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Concepts Covered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4114800" cy="1170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960120"/>
            <a:ext cx="7772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60120"/>
            <a:ext cx="777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N[i,j]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03327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Bigram Counting &amp; NLL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399032"/>
            <a:ext cx="3154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matrix → Laplace smooth → P. Loss = −(1/N)Σlog P(cᵢ₊₁|cᵢ). Both stat and neural forms minimise same objective.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114800" cy="1170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60120"/>
            <a:ext cx="7772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960120"/>
            <a:ext cx="777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C[x]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23560" y="103327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Character Embeddings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23560" y="1399032"/>
            <a:ext cx="3154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table C maps integer index → dense vector. Learned jointly with MLP. Clusters vowels/consonants naturally.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258568"/>
            <a:ext cx="4114800" cy="1170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258568"/>
            <a:ext cx="7772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258568"/>
            <a:ext cx="777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σ⁻¹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233172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Kaiming Initialisation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2697480"/>
            <a:ext cx="3154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hidden weights by (5/3)/√fan_in for tanh. Keeps pre-activation std ≈ 1 → avoids saturation from step 0.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258568"/>
            <a:ext cx="4114800" cy="1170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258568"/>
            <a:ext cx="7772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258568"/>
            <a:ext cx="777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23560" y="233172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Batch Normalisation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23560" y="2697480"/>
            <a:ext cx="3154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pre-activations per mini-batch then scale/shift. Decouples init from dynamics. Running stats for inference.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557016"/>
            <a:ext cx="4114800" cy="1170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557016"/>
            <a:ext cx="7772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557016"/>
            <a:ext cx="777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∇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88720" y="363016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Chain Rule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88720" y="3995928"/>
            <a:ext cx="3154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decomposition of forward pass. Fused cross-entropy: d_logits = softmax − one_hot, /B. Fused BN: closed form.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3557016"/>
            <a:ext cx="4114800" cy="1170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3557016"/>
            <a:ext cx="7772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557016"/>
            <a:ext cx="777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⌥⌥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623560" y="363016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FlattenConsecutive(2)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623560" y="3995928"/>
            <a:ext cx="3154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adjacent pairs: (B,T,C)→(B,T/2,2C). Applied 3× to collapse 8→4→2→1. Core of hierarchical processing.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Names Generated by Each Model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85039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960120"/>
            <a:ext cx="73152" cy="19019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332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1 — Bigram model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90472"/>
            <a:ext cx="96012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490472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536192" y="1490472"/>
            <a:ext cx="96012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36192" y="1490472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axx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9464" y="1490472"/>
            <a:ext cx="96012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9464" y="1490472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deliah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02736" y="1490472"/>
            <a:ext cx="96012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02736" y="1490472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elyso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36008" y="1490472"/>
            <a:ext cx="96012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36008" y="1490472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0" y="1490472"/>
            <a:ext cx="96012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0" y="1490472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akrie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02552" y="1490472"/>
            <a:ext cx="96012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02552" y="1490472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emme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35824" y="1490472"/>
            <a:ext cx="96012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35824" y="1490472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axana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198424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often short or garbled. Limited to single-char context.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3017520"/>
            <a:ext cx="85039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017520"/>
            <a:ext cx="73152" cy="19019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0906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5 — WaveNet (8-char context)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02920" y="3547872"/>
            <a:ext cx="96012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" y="3547872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carmah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536192" y="3547872"/>
            <a:ext cx="96012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536192" y="3547872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deliah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569464" y="3547872"/>
            <a:ext cx="96012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569464" y="3547872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jareen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602736" y="3547872"/>
            <a:ext cx="96012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602736" y="3547872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onayla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36008" y="3547872"/>
            <a:ext cx="96012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636008" y="3547872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briette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669280" y="3547872"/>
            <a:ext cx="96012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669280" y="3547872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kailynn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702552" y="3547872"/>
            <a:ext cx="96012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702552" y="3547872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zorinda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735824" y="3547872"/>
            <a:ext cx="96012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735824" y="3547872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emersyn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02920" y="404164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Phonetically plausible, structurally like real English names.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20040" y="5138928"/>
            <a:ext cx="850392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51389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Generation: start with ['.'] × block_size → forward pass → softmax → torch.multinomial → slide context → repeat until '.' token sampled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1E3A5F">
              <a:alpha val="60000"/>
            </a:srgbClr>
          </a:solidFill>
          <a:ln w="12700">
            <a:solidFill>
              <a:srgbClr val="1E3A5F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926080"/>
            <a:ext cx="4572000" cy="45720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05840"/>
            <a:ext cx="73152" cy="21945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601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Built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first principles: 729-parameter bigrams → 76K-parameter hierarchical CNN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94360" y="2377440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377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30428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differentiation is just the chain rule — manual backprop proves it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2889504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8895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81635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Initialisation matters more than expected: W₂×0.01 and Kaiming init cut starting loss from ~27 to ~3.3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3401568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401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328416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Normalisation decouples weight scale from learning dynamics — critical for deep networks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3913632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913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84048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merging (8→4→2→1) is the single biggest improvement: drops val loss from 2.105 → 1.993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4425696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4256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4352544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principles — embeddings, BN, hierarchical convolutions — underpin WaveNet, Transformers, and modern LLMs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names.txt · Framework: PyTorch · Reference: Andrej Karpathy's Makemore series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2026-04-24T03:25:14Z</dcterms:created>
  <dcterms:modified xsi:type="dcterms:W3CDTF">2026-04-24T03:25:14Z</dcterms:modified>
</cp:coreProperties>
</file>